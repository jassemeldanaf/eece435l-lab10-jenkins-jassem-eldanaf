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sldIdLst>
    <p:sldId id="261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6" r:id="rId23"/>
    <p:sldId id="354" r:id="rId24"/>
    <p:sldId id="355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016" y="3096916"/>
            <a:ext cx="3034929" cy="757591"/>
          </a:xfrm>
          <a:prstGeom prst="rect">
            <a:avLst/>
          </a:prstGeom>
        </p:spPr>
        <p:txBody>
          <a:bodyPr anchor="b"/>
          <a:lstStyle>
            <a:lvl1pPr algn="l">
              <a:defRPr sz="169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algn="l">
              <a:lnSpc>
                <a:spcPct val="90000"/>
              </a:lnSpc>
              <a:defRPr sz="4500" b="1" cap="all">
                <a:solidFill>
                  <a:srgbClr val="FFFFFF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dirty="0">
                <a:latin typeface="Helvetica" pitchFamily="2" charset="0"/>
              </a:rPr>
              <a:t>TITLE OF PRESENTATION</a:t>
            </a:r>
            <a:br>
              <a:rPr lang="en-US" dirty="0">
                <a:latin typeface="Helvetica" pitchFamily="2" charset="0"/>
              </a:rPr>
            </a:br>
            <a:r>
              <a:rPr lang="en-US" dirty="0">
                <a:latin typeface="Helvetica" pitchFamily="2" charset="0"/>
              </a:rPr>
              <a:t>LOREM IPSUM LOREM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8650" y="4119959"/>
            <a:ext cx="3049210" cy="35049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15">
                <a:solidFill>
                  <a:schemeClr val="bg1"/>
                </a:solidFill>
                <a:latin typeface="Helvetica" pitchFamily="2" charset="0"/>
              </a:defRPr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en-US" dirty="0">
                <a:latin typeface="Helvetica" pitchFamily="2" charset="0"/>
              </a:rPr>
              <a:t>SPEAKER, TITLE</a:t>
            </a:r>
          </a:p>
        </p:txBody>
      </p:sp>
      <p:sp>
        <p:nvSpPr>
          <p:cNvPr id="11" name="Line"/>
          <p:cNvSpPr/>
          <p:nvPr userDrawn="1"/>
        </p:nvSpPr>
        <p:spPr>
          <a:xfrm>
            <a:off x="668806" y="4503692"/>
            <a:ext cx="3049210" cy="0"/>
          </a:xfrm>
          <a:prstGeom prst="line">
            <a:avLst/>
          </a:prstGeom>
          <a:ln w="25400" cap="rnd">
            <a:solidFill>
              <a:srgbClr val="FFFFFF">
                <a:alpha val="66798"/>
              </a:srgbClr>
            </a:solidFill>
            <a:custDash>
              <a:ds d="100000" sp="200000"/>
            </a:custDash>
          </a:ln>
        </p:spPr>
        <p:txBody>
          <a:bodyPr lIns="19050" tIns="19050" rIns="19050" bIns="19050" anchor="ctr"/>
          <a:lstStyle/>
          <a:p>
            <a:pPr algn="ctr" defTabSz="914400" hangingPunct="0"/>
            <a:endParaRPr sz="900" kern="0" dirty="0">
              <a:solidFill>
                <a:srgbClr val="5E5E5E"/>
              </a:solidFill>
              <a:latin typeface="Helvetica" pitchFamily="2" charset="0"/>
              <a:sym typeface="Helvetica Neue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2070" y="5860690"/>
            <a:ext cx="477982" cy="637309"/>
          </a:xfrm>
          <a:prstGeom prst="rect">
            <a:avLst/>
          </a:prstGeom>
        </p:spPr>
      </p:pic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624016" y="4620037"/>
            <a:ext cx="4031456" cy="2352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15">
                <a:solidFill>
                  <a:schemeClr val="bg1"/>
                </a:solidFill>
                <a:latin typeface="Helvetica" pitchFamily="2" charset="0"/>
              </a:defRPr>
            </a:lvl1pPr>
            <a:lvl2pPr>
              <a:defRPr sz="1015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1015">
                <a:solidFill>
                  <a:schemeClr val="bg1"/>
                </a:solidFill>
                <a:latin typeface="Helvetica" pitchFamily="2" charset="0"/>
              </a:defRPr>
            </a:lvl3pPr>
            <a:lvl4pPr>
              <a:defRPr sz="1015">
                <a:solidFill>
                  <a:schemeClr val="bg1"/>
                </a:solidFill>
                <a:latin typeface="Helvetica" pitchFamily="2" charset="0"/>
              </a:defRPr>
            </a:lvl4pPr>
            <a:lvl5pPr>
              <a:defRPr sz="1015">
                <a:solidFill>
                  <a:schemeClr val="bg1"/>
                </a:solidFill>
                <a:latin typeface="Helvetica" pitchFamily="2" charset="0"/>
              </a:defRPr>
            </a:lvl5pPr>
          </a:lstStyle>
          <a:p>
            <a:pPr algn="l">
              <a:defRPr sz="2700">
                <a:solidFill>
                  <a:srgbClr val="FFFFFF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dirty="0">
                <a:latin typeface="Helvetica" pitchFamily="2" charset="0"/>
              </a:rPr>
              <a:t>Date</a:t>
            </a:r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624016" y="4928379"/>
            <a:ext cx="4031456" cy="23523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15">
                <a:solidFill>
                  <a:schemeClr val="bg1"/>
                </a:solidFill>
                <a:latin typeface="Helvetica" pitchFamily="2" charset="0"/>
              </a:defRPr>
            </a:lvl1pPr>
            <a:lvl2pPr>
              <a:defRPr sz="1015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1015">
                <a:solidFill>
                  <a:schemeClr val="bg1"/>
                </a:solidFill>
                <a:latin typeface="Helvetica" pitchFamily="2" charset="0"/>
              </a:defRPr>
            </a:lvl3pPr>
            <a:lvl4pPr>
              <a:defRPr sz="1015">
                <a:solidFill>
                  <a:schemeClr val="bg1"/>
                </a:solidFill>
                <a:latin typeface="Helvetica" pitchFamily="2" charset="0"/>
              </a:defRPr>
            </a:lvl4pPr>
            <a:lvl5pPr>
              <a:defRPr sz="1015">
                <a:solidFill>
                  <a:schemeClr val="bg1"/>
                </a:solidFill>
                <a:latin typeface="Helvetica" pitchFamily="2" charset="0"/>
              </a:defRPr>
            </a:lvl5pPr>
          </a:lstStyle>
          <a:p>
            <a:r>
              <a:rPr lang="en-US" dirty="0">
                <a:latin typeface="Helvetica" pitchFamily="2" charset="0"/>
              </a:rPr>
              <a:t>Office Name |  American University of Beirut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524010" y="6379024"/>
            <a:ext cx="2164054" cy="102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9050" tIns="19050" rIns="19050" bIns="19050" numCol="1" spcCol="38100" rtlCol="0" anchor="ctr">
            <a:spAutoFit/>
          </a:bodyPr>
          <a:lstStyle/>
          <a:p>
            <a:pPr algn="ctr" defTabSz="914400" hangingPunct="0"/>
            <a:r>
              <a:rPr lang="en-US" sz="415" kern="0" dirty="0">
                <a:solidFill>
                  <a:srgbClr val="FFFFFF"/>
                </a:solidFill>
                <a:latin typeface="Helvetica" pitchFamily="2" charset="0"/>
                <a:sym typeface="Helvetica Neue"/>
              </a:rPr>
              <a:t>POWERED BY ABDULLA AL GHURAIR HUB FOR DIGITAL TEACHING AND LEARNING</a:t>
            </a:r>
          </a:p>
        </p:txBody>
      </p: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24016" y="1215352"/>
            <a:ext cx="3053844" cy="9580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hank you."/>
          <p:cNvSpPr txBox="1"/>
          <p:nvPr userDrawn="1"/>
        </p:nvSpPr>
        <p:spPr>
          <a:xfrm>
            <a:off x="3909559" y="3064349"/>
            <a:ext cx="1328890" cy="27225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>
            <a:spAutoFit/>
          </a:bodyPr>
          <a:lstStyle>
            <a:lvl1pPr algn="l">
              <a:lnSpc>
                <a:spcPct val="90000"/>
              </a:lnSpc>
              <a:defRPr sz="4500" b="1" cap="all">
                <a:solidFill>
                  <a:srgbClr val="FFFFFF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pPr defTabSz="914400" hangingPunct="0"/>
            <a:r>
              <a:rPr sz="1690" kern="0" dirty="0">
                <a:latin typeface="Helvetica" pitchFamily="2" charset="0"/>
              </a:rPr>
              <a:t>Thank you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33009" y="5823473"/>
            <a:ext cx="477982" cy="637309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2662824" y="5226737"/>
            <a:ext cx="3818353" cy="1769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9050" tIns="19050" rIns="19050" bIns="19050" numCol="1" spcCol="38100" rtlCol="0" anchor="ctr">
            <a:spAutoFit/>
          </a:bodyPr>
          <a:lstStyle/>
          <a:p>
            <a:pPr algn="ctr" defTabSz="914400" hangingPunct="0"/>
            <a:r>
              <a:rPr lang="en-US" sz="900" kern="0" dirty="0">
                <a:solidFill>
                  <a:srgbClr val="FFFFFF"/>
                </a:solidFill>
                <a:latin typeface="Calibri Light" panose="020F0302020204030204"/>
                <a:sym typeface="Helvetica Neue"/>
              </a:rPr>
              <a:t>POWERED BY ABDULLA AL GHURAIR HUB FOR DIGITAL TEACHING AND LEARNING</a:t>
            </a:r>
          </a:p>
        </p:txBody>
      </p:sp>
      <p:pic>
        <p:nvPicPr>
          <p:cNvPr id="8" name="Graphic 7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556289" y="4392067"/>
            <a:ext cx="2031422" cy="63730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79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5441" y="3179937"/>
            <a:ext cx="6450338" cy="767282"/>
          </a:xfrm>
        </p:spPr>
        <p:txBody>
          <a:bodyPr lIns="34290" tIns="17145" rIns="34290" bIns="17145" anchor="b"/>
          <a:lstStyle/>
          <a:p>
            <a:r>
              <a:rPr lang="en-US" dirty="0" smtClean="0">
                <a:latin typeface="Helvetica"/>
              </a:rPr>
              <a:t>435L-Lab10-Jenkins</a:t>
            </a:r>
            <a:br>
              <a:rPr lang="en-US" dirty="0" smtClean="0">
                <a:latin typeface="Helvetica"/>
              </a:rPr>
            </a:br>
            <a:endParaRPr lang="en-US" dirty="0">
              <a:latin typeface="Helvetic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Iman Ghalayini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American University of Beirut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Jenkins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Continuous Integration, Deployment, and Automation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Jenkins:</a:t>
            </a:r>
          </a:p>
          <a:p>
            <a:r>
              <a:t>- A popular open-source automation server</a:t>
            </a:r>
          </a:p>
          <a:p>
            <a:r>
              <a:t>- Supports continuous integration (CI) and continuous deployment (CD)</a:t>
            </a:r>
          </a:p>
          <a:p>
            <a:r>
              <a:t>- Helps in automating the software development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Jenkins?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Main Advantages:</a:t>
            </a:r>
          </a:p>
          <a:p>
            <a:r>
              <a:t>- Automated builds, tests, and deployments</a:t>
            </a:r>
          </a:p>
          <a:p>
            <a:r>
              <a:t>- Detect issues early with CI/CD</a:t>
            </a:r>
          </a:p>
          <a:p>
            <a:r>
              <a:t>- Integrates with various plugins and tools</a:t>
            </a:r>
          </a:p>
          <a:p>
            <a:r>
              <a:t>Common Use Cases:</a:t>
            </a:r>
          </a:p>
          <a:p>
            <a:r>
              <a:t>- Automating builds and tests</a:t>
            </a:r>
          </a:p>
          <a:p>
            <a:r>
              <a:t>- Running security scans</a:t>
            </a:r>
          </a:p>
          <a:p>
            <a:r>
              <a:t>- Deploying applications to 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of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Jenkins Pipeline: An automated series of stages for your software lifecycle</a:t>
            </a:r>
          </a:p>
          <a:p>
            <a:r>
              <a:t>Jobs and Builds: Core tasks Jenkins runs to achieve CI/CD</a:t>
            </a:r>
          </a:p>
          <a:p>
            <a:r>
              <a:t>Nodes and Executors: Distributed build infrastructure</a:t>
            </a:r>
          </a:p>
          <a:p>
            <a:r>
              <a:t>Plugins: Extend functionality (e.g., coverage.py for code coverage, bandit for security scanning)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Up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Installation Overview:</a:t>
            </a:r>
          </a:p>
          <a:p>
            <a:pPr marL="0" indent="0">
              <a:buNone/>
            </a:pPr>
            <a:r>
              <a:t>- Install Jenkins on Windows, Linux, or Mac</a:t>
            </a:r>
          </a:p>
          <a:p>
            <a:pPr marL="0" indent="0">
              <a:buNone/>
            </a:pPr>
            <a:r>
              <a:t>- Basic configuration with the setup wizard</a:t>
            </a:r>
          </a:p>
          <a:p>
            <a:pPr marL="0" indent="0">
              <a:buNone/>
            </a:pPr>
            <a:r>
              <a:t>Plugins Installation:</a:t>
            </a:r>
          </a:p>
          <a:p>
            <a:pPr marL="0" indent="0">
              <a:buNone/>
            </a:pPr>
            <a:r>
              <a:t>- Using the Jenkins Plugin Manager to install essential plugins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Jenkinsfile: Pipeline as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Jenkinsfile Basics:</a:t>
            </a:r>
          </a:p>
          <a:p>
            <a:pPr marL="0" indent="0">
              <a:buNone/>
            </a:pPr>
            <a:r>
              <a:t>- Written in Groovy syntax</a:t>
            </a:r>
          </a:p>
          <a:p>
            <a:pPr marL="0" indent="0">
              <a:buNone/>
            </a:pPr>
            <a:r>
              <a:t>- Defines pipeline stages, steps, and post-actions</a:t>
            </a:r>
          </a:p>
          <a:p>
            <a:pPr marL="0" indent="0">
              <a:buNone/>
            </a:pPr>
            <a:r>
              <a:t>Benefits of Jenkinsfile:</a:t>
            </a:r>
          </a:p>
          <a:p>
            <a:pPr marL="0" indent="0">
              <a:buNone/>
            </a:pPr>
            <a:r>
              <a:t>- Version-controlled CI/CD configuration</a:t>
            </a:r>
          </a:p>
          <a:p>
            <a:pPr marL="0" indent="0">
              <a:buNone/>
            </a:pPr>
            <a:r>
              <a:t>- Easy to track changes in pipeline configuration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Pipeline Structure in Jenkinsfile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/>
              <a:t>Simple Pipeline Outline:</a:t>
            </a:r>
          </a:p>
          <a:p>
            <a:pPr marL="0" indent="0">
              <a:buNone/>
            </a:pPr>
            <a:r>
              <a:rPr sz="2000"/>
              <a:t>pipeline {</a:t>
            </a:r>
          </a:p>
          <a:p>
            <a:pPr marL="0" indent="0">
              <a:buNone/>
            </a:pPr>
            <a:r>
              <a:rPr sz="2000"/>
              <a:t>    agent any</a:t>
            </a:r>
          </a:p>
          <a:p>
            <a:pPr marL="0" indent="0">
              <a:buNone/>
            </a:pPr>
            <a:r>
              <a:rPr sz="2000"/>
              <a:t>    stages {</a:t>
            </a:r>
          </a:p>
          <a:p>
            <a:pPr marL="0" indent="0">
              <a:buNone/>
            </a:pPr>
            <a:r>
              <a:rPr sz="2000"/>
              <a:t>        stage('Build') { steps { echo 'Building...' } }</a:t>
            </a:r>
          </a:p>
          <a:p>
            <a:pPr marL="0" indent="0">
              <a:buNone/>
            </a:pPr>
            <a:r>
              <a:rPr sz="2000"/>
              <a:t>        stage('Test') { steps { echo 'Testing...' } }</a:t>
            </a:r>
          </a:p>
          <a:p>
            <a:pPr marL="0" indent="0">
              <a:buNone/>
            </a:pPr>
            <a:r>
              <a:rPr sz="2000"/>
              <a:t>        stage('Deploy') { steps { echo 'Deploying...' } }</a:t>
            </a:r>
          </a:p>
          <a:p>
            <a:pPr marL="0" indent="0">
              <a:buNone/>
            </a:pPr>
            <a:r>
              <a:rPr sz="2000"/>
              <a:t>    }</a:t>
            </a:r>
          </a:p>
          <a:p>
            <a:pPr marL="0" indent="0">
              <a:buNone/>
            </a:pPr>
            <a:r>
              <a:rPr sz="2000"/>
              <a:t>}</a:t>
            </a:r>
          </a:p>
          <a:p>
            <a:pPr marL="0" indent="0">
              <a:buNone/>
            </a:pPr>
            <a:endParaRPr sz="2000"/>
          </a:p>
          <a:p>
            <a:pPr marL="0" indent="0">
              <a:buNone/>
            </a:pPr>
            <a:r>
              <a:rPr sz="2000"/>
              <a:t>Explanation of Key Sections: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Running and Monitoring Jenkins Builds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Triggering Builds:</a:t>
            </a:r>
          </a:p>
          <a:p>
            <a:pPr marL="0" indent="0">
              <a:buNone/>
            </a:pPr>
            <a:r>
              <a:t>- Automated triggers (e.g., Git commits), manual, or scheduled builds</a:t>
            </a:r>
          </a:p>
          <a:p>
            <a:pPr marL="0" indent="0">
              <a:buNone/>
            </a:pPr>
            <a:r>
              <a:t>Monitoring and Logging:</a:t>
            </a:r>
          </a:p>
          <a:p>
            <a:pPr marL="0" indent="0">
              <a:buNone/>
            </a:pPr>
            <a:r>
              <a:t>- Viewing console logs</a:t>
            </a:r>
          </a:p>
          <a:p>
            <a:pPr marL="0" indent="0">
              <a:buNone/>
            </a:pPr>
            <a:r>
              <a:t>- Setting up notifications for build failures or successes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Jenkins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Control the Jenkinsfile: Keep it in the project repository</a:t>
            </a:r>
          </a:p>
          <a:p>
            <a:r>
              <a:t>Use Declarative Pipelines: Easier to read and manage</a:t>
            </a:r>
          </a:p>
          <a:p>
            <a:r>
              <a:t>Fail Fast, Fail Early: Detect issues as early as possible in the pipeline</a:t>
            </a:r>
          </a:p>
          <a:p>
            <a:r>
              <a:t>Isolate Environments: Use Docker or virtual environments for consistency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to set up a Jenkins pipeline for continuous integration and continuous deployment (CI/CD) using Python. Automate testing and deployment processes using Jenkins.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Basic understanding of Python programming.</a:t>
            </a:r>
          </a:p>
          <a:p>
            <a:r>
              <a:t>• Familiarity with Git and GitHub.</a:t>
            </a:r>
          </a:p>
          <a:p>
            <a:r>
              <a:t>• Jenkins installed on your machine or accessible via a server.</a:t>
            </a:r>
          </a:p>
          <a:p>
            <a:r>
              <a:t>• Python and pip installed.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Setting Up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1. Install Jenkins:</a:t>
            </a:r>
          </a:p>
          <a:p>
            <a:r>
              <a:rPr sz="2000"/>
              <a:t>   - Download and install Jenkins from the official website.</a:t>
            </a:r>
          </a:p>
          <a:p>
            <a:r>
              <a:rPr sz="2000"/>
              <a:t>   - Start Jenkins using: java -jar jenkins.war</a:t>
            </a:r>
          </a:p>
          <a:p>
            <a:r>
              <a:rPr sz="2000"/>
              <a:t>   - Open Jenkins in your browser at http://localhost:8080/</a:t>
            </a:r>
          </a:p>
          <a:p>
            <a:r>
              <a:rPr sz="2000"/>
              <a:t>2. Set Up Jenkins:</a:t>
            </a:r>
          </a:p>
          <a:p>
            <a:r>
              <a:rPr sz="2000"/>
              <a:t>   - Follow the setup instructions, install suggested plugins:</a:t>
            </a:r>
          </a:p>
          <a:p>
            <a:r>
              <a:rPr sz="2000"/>
              <a:t>     • Git Plugin</a:t>
            </a:r>
          </a:p>
          <a:p>
            <a:r>
              <a:rPr sz="2000"/>
              <a:t>     • Pipeline Plugin</a:t>
            </a:r>
          </a:p>
          <a:p>
            <a:r>
              <a:rPr sz="2000"/>
              <a:t>     • SSH Agent Plugin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Setting Up a Python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1. Create a Python Project:</a:t>
            </a:r>
          </a:p>
          <a:p>
            <a:r>
              <a:rPr sz="2000"/>
              <a:t>   - Set up a new Python project directory named 'jenkins_project'.</a:t>
            </a:r>
          </a:p>
          <a:p>
            <a:r>
              <a:rPr sz="2000"/>
              <a:t>   - Initialize a Git repository.</a:t>
            </a:r>
          </a:p>
          <a:p>
            <a:r>
              <a:rPr sz="2000"/>
              <a:t>   - Create a basic Python script 'app.py'.</a:t>
            </a:r>
          </a:p>
          <a:p>
            <a:r>
              <a:rPr sz="2000"/>
              <a:t>2. Set Up Unit Tests:</a:t>
            </a:r>
          </a:p>
          <a:p>
            <a:r>
              <a:rPr sz="2000"/>
              <a:t>   - Create a 'tests/' directory with unit tests for 'app.py'.</a:t>
            </a:r>
          </a:p>
          <a:p>
            <a:r>
              <a:rPr sz="2000"/>
              <a:t>3. Create a requirements.txt File:</a:t>
            </a:r>
          </a:p>
          <a:p>
            <a:r>
              <a:rPr sz="2000"/>
              <a:t>   - List project dependencies (e.g., flake8).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3: Creating a Jenkins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1. Create a Jenkins Job:</a:t>
            </a:r>
          </a:p>
          <a:p>
            <a:r>
              <a:rPr sz="2000"/>
              <a:t>   - New Item &gt; Pipeline job named 'Python-CI-CD'.</a:t>
            </a:r>
          </a:p>
          <a:p>
            <a:r>
              <a:rPr sz="2000"/>
              <a:t>   - Set SCM to Git and provide the URL of your Git repository.</a:t>
            </a:r>
          </a:p>
          <a:p>
            <a:r>
              <a:rPr sz="2000"/>
              <a:t>2. Write a Jenkinsfile:</a:t>
            </a:r>
          </a:p>
          <a:p>
            <a:r>
              <a:rPr sz="2000"/>
              <a:t>   - Define pipeline stages: Setup, Lint, Test, Deploy.</a:t>
            </a:r>
          </a:p>
          <a:p>
            <a:r>
              <a:rPr sz="2000"/>
              <a:t>3. Run the Pipeline:</a:t>
            </a:r>
          </a:p>
          <a:p>
            <a:r>
              <a:rPr sz="2000"/>
              <a:t>   - Commit the Jenkinsfile and push to GitHub.</a:t>
            </a:r>
          </a:p>
          <a:p>
            <a:r>
              <a:rPr sz="2000"/>
              <a:t>   - Trigger a build in Jenkins.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4: Exercise to be Graded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/>
              <a:t>1. Objective:</a:t>
            </a:r>
          </a:p>
          <a:p>
            <a:pPr marL="0" indent="0">
              <a:buNone/>
            </a:pPr>
            <a:r>
              <a:rPr sz="2000"/>
              <a:t>   - Modify the Jenkins pipeline to include security scanning and code coverage analysis.</a:t>
            </a:r>
          </a:p>
          <a:p>
            <a:pPr marL="0" indent="0">
              <a:buNone/>
            </a:pPr>
            <a:r>
              <a:rPr sz="2000"/>
              <a:t>2. Instructions:</a:t>
            </a:r>
          </a:p>
          <a:p>
            <a:pPr marL="0" indent="0">
              <a:buNone/>
            </a:pPr>
            <a:r>
              <a:rPr sz="2000"/>
              <a:t>   - Step 1: Add code coverage using coverage.py.</a:t>
            </a:r>
          </a:p>
          <a:p>
            <a:pPr marL="0" indent="0">
              <a:buNone/>
            </a:pPr>
            <a:r>
              <a:rPr sz="2000"/>
              <a:t>   - Step 2: Integrate security scanning using bandit.</a:t>
            </a:r>
          </a:p>
          <a:p>
            <a:pPr marL="0" indent="0">
              <a:buNone/>
            </a:pPr>
            <a:r>
              <a:rPr sz="2000"/>
              <a:t>   - Step 3: Implement a deployment script.</a:t>
            </a:r>
          </a:p>
          <a:p>
            <a:pPr marL="0" indent="0">
              <a:buNone/>
            </a:pPr>
            <a:r>
              <a:rPr sz="2000"/>
              <a:t>3. Expected Output:</a:t>
            </a:r>
          </a:p>
          <a:p>
            <a:pPr marL="0" indent="0">
              <a:buNone/>
            </a:pPr>
            <a:r>
              <a:rPr sz="2000"/>
              <a:t>   - Modified Jenkinsfile with additional stages.</a:t>
            </a:r>
          </a:p>
          <a:p>
            <a:pPr marL="0" indent="0">
              <a:buNone/>
            </a:pPr>
            <a:r>
              <a:rPr sz="2000"/>
              <a:t>   - Successful Jenkins build that passes all stages.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Coverage with coverage.py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/>
              <a:t>Why Code Coverage?</a:t>
            </a:r>
          </a:p>
          <a:p>
            <a:pPr marL="0" indent="0">
              <a:buNone/>
            </a:pPr>
            <a:r>
              <a:rPr sz="2000"/>
              <a:t>- Ensures that test cases cover the codebase adequately</a:t>
            </a:r>
          </a:p>
          <a:p>
            <a:pPr marL="0" indent="0">
              <a:buNone/>
            </a:pPr>
            <a:r>
              <a:rPr sz="2000"/>
              <a:t>- Helps identify untested code paths</a:t>
            </a:r>
          </a:p>
          <a:p>
            <a:pPr marL="0" indent="0">
              <a:buNone/>
            </a:pPr>
            <a:r>
              <a:rPr sz="2000"/>
              <a:t>Integrating coverage.py with Jenkins:</a:t>
            </a:r>
          </a:p>
          <a:p>
            <a:pPr marL="0" indent="0">
              <a:buNone/>
            </a:pPr>
            <a:r>
              <a:rPr sz="2000"/>
              <a:t>- Add coverage command in a new Coverage stage</a:t>
            </a:r>
          </a:p>
          <a:p>
            <a:pPr marL="0" indent="0">
              <a:buNone/>
            </a:pPr>
            <a:r>
              <a:rPr sz="2000"/>
              <a:t>Example Code:</a:t>
            </a:r>
          </a:p>
          <a:p>
            <a:pPr marL="0" indent="0">
              <a:buNone/>
            </a:pPr>
            <a:r>
              <a:rPr sz="2000"/>
              <a:t>stage('Coverage') {</a:t>
            </a:r>
          </a:p>
          <a:p>
            <a:pPr marL="0" indent="0">
              <a:buNone/>
            </a:pPr>
            <a:r>
              <a:rPr sz="2000"/>
              <a:t>    steps {</a:t>
            </a:r>
          </a:p>
          <a:p>
            <a:pPr marL="0" indent="0">
              <a:buNone/>
            </a:pPr>
            <a:r>
              <a:rPr sz="2000"/>
              <a:t>        sh 'coverage run -m pytest tests/'</a:t>
            </a:r>
          </a:p>
          <a:p>
            <a:pPr marL="0" indent="0">
              <a:buNone/>
            </a:pPr>
            <a:r>
              <a:rPr sz="2000"/>
              <a:t>        sh 'coverage report'</a:t>
            </a:r>
          </a:p>
          <a:p>
            <a:pPr marL="0" indent="0">
              <a:buNone/>
            </a:pPr>
            <a:r>
              <a:rPr sz="2000"/>
              <a:t>    }</a:t>
            </a:r>
          </a:p>
          <a:p>
            <a:pPr marL="0" indent="0">
              <a:buNone/>
            </a:pPr>
            <a:r>
              <a:rPr sz="2000"/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Scanning with bandit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/>
              <a:t>Why Security Scanning?</a:t>
            </a:r>
          </a:p>
          <a:p>
            <a:pPr marL="0" indent="0">
              <a:buNone/>
            </a:pPr>
            <a:r>
              <a:rPr sz="2000"/>
              <a:t>- Detects potential vulnerabilities in code</a:t>
            </a:r>
          </a:p>
          <a:p>
            <a:pPr marL="0" indent="0">
              <a:buNone/>
            </a:pPr>
            <a:r>
              <a:rPr sz="2000"/>
              <a:t>- Automates security checks in the pipeline</a:t>
            </a:r>
          </a:p>
          <a:p>
            <a:pPr marL="0" indent="0">
              <a:buNone/>
            </a:pPr>
            <a:r>
              <a:rPr sz="2000"/>
              <a:t>Integrating bandit with Jenkins:</a:t>
            </a:r>
          </a:p>
          <a:p>
            <a:pPr marL="0" indent="0">
              <a:buNone/>
            </a:pPr>
            <a:r>
              <a:rPr sz="2000"/>
              <a:t>- Add bandit command in a new Security Scan stage</a:t>
            </a:r>
          </a:p>
          <a:p>
            <a:pPr marL="0" indent="0">
              <a:buNone/>
            </a:pPr>
            <a:r>
              <a:rPr sz="2000"/>
              <a:t>Example Code:</a:t>
            </a:r>
          </a:p>
          <a:p>
            <a:pPr marL="0" indent="0">
              <a:buNone/>
            </a:pPr>
            <a:r>
              <a:rPr sz="2000"/>
              <a:t>stage('Security Scan') {</a:t>
            </a:r>
          </a:p>
          <a:p>
            <a:pPr marL="0" indent="0">
              <a:buNone/>
            </a:pPr>
            <a:r>
              <a:rPr sz="2000"/>
              <a:t>    steps {</a:t>
            </a:r>
          </a:p>
          <a:p>
            <a:pPr marL="0" indent="0">
              <a:buNone/>
            </a:pPr>
            <a:r>
              <a:rPr sz="2000"/>
              <a:t>        sh 'bandit -r .'</a:t>
            </a:r>
          </a:p>
          <a:p>
            <a:pPr marL="0" indent="0">
              <a:buNone/>
            </a:pPr>
            <a:r>
              <a:rPr sz="2000"/>
              <a:t>    }</a:t>
            </a:r>
          </a:p>
          <a:p>
            <a:pPr marL="0" indent="0">
              <a:buNone/>
            </a:pPr>
            <a:r>
              <a:rPr sz="2000"/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Stage in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/>
              <a:t>Purpose of Deployment Stage:</a:t>
            </a:r>
          </a:p>
          <a:p>
            <a:pPr marL="0" indent="0">
              <a:buNone/>
            </a:pPr>
            <a:r>
              <a:rPr sz="2000"/>
              <a:t>- Automates deployment to production or staging environments</a:t>
            </a:r>
          </a:p>
          <a:p>
            <a:pPr marL="0" indent="0">
              <a:buNone/>
            </a:pPr>
            <a:r>
              <a:rPr sz="2000"/>
              <a:t>Adding Deployment Commands:</a:t>
            </a:r>
          </a:p>
          <a:p>
            <a:pPr marL="0" indent="0">
              <a:buNone/>
            </a:pPr>
            <a:r>
              <a:rPr sz="2000"/>
              <a:t>- Run deployment scripts or use SSH for remote deployments</a:t>
            </a:r>
          </a:p>
          <a:p>
            <a:pPr marL="0" indent="0">
              <a:buNone/>
            </a:pPr>
            <a:r>
              <a:rPr sz="2000"/>
              <a:t>Example Code:</a:t>
            </a:r>
          </a:p>
          <a:p>
            <a:pPr marL="0" indent="0">
              <a:buNone/>
            </a:pPr>
            <a:r>
              <a:rPr sz="2000"/>
              <a:t>stage('Deploy') {</a:t>
            </a:r>
          </a:p>
          <a:p>
            <a:pPr marL="0" indent="0">
              <a:buNone/>
            </a:pPr>
            <a:r>
              <a:rPr sz="2000"/>
              <a:t>    steps {</a:t>
            </a:r>
          </a:p>
          <a:p>
            <a:pPr marL="0" indent="0">
              <a:buNone/>
            </a:pPr>
            <a:r>
              <a:rPr sz="2000"/>
              <a:t>        sh './deploy.sh'</a:t>
            </a:r>
          </a:p>
          <a:p>
            <a:pPr marL="0" indent="0">
              <a:buNone/>
            </a:pPr>
            <a:r>
              <a:rPr sz="2000"/>
              <a:t>    }</a:t>
            </a:r>
          </a:p>
          <a:p>
            <a:pPr marL="0" indent="0">
              <a:buNone/>
            </a:pPr>
            <a:r>
              <a:rPr sz="2000"/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Jenkinsfile </a:t>
            </a:r>
            <a:r>
              <a:rPr lang="en-US"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000" dirty="0"/>
              <a:t> Instructions to Set Up the Project</a:t>
            </a:r>
          </a:p>
          <a:p>
            <a:pPr marL="0" indent="0">
              <a:buNone/>
            </a:pPr>
            <a:r>
              <a:rPr sz="1000" dirty="0"/>
              <a:t>1. Create the Project Directory: </a:t>
            </a:r>
          </a:p>
          <a:p>
            <a:pPr marL="0" indent="0">
              <a:buNone/>
            </a:pPr>
            <a:r>
              <a:rPr sz="1000" dirty="0"/>
              <a:t>   </a:t>
            </a:r>
          </a:p>
          <a:p>
            <a:pPr marL="0" indent="0">
              <a:buNone/>
            </a:pPr>
            <a:r>
              <a:rPr sz="1000" dirty="0"/>
              <a:t>   </a:t>
            </a:r>
            <a:r>
              <a:rPr sz="1000" dirty="0" err="1"/>
              <a:t>mkdir</a:t>
            </a:r>
            <a:r>
              <a:rPr sz="1000" dirty="0"/>
              <a:t> </a:t>
            </a:r>
            <a:r>
              <a:rPr sz="1000" dirty="0" err="1" smtClean="0"/>
              <a:t>jenkins_</a:t>
            </a:r>
            <a:r>
              <a:rPr lang="en-US" sz="1000" dirty="0" err="1" smtClean="0"/>
              <a:t>first_last</a:t>
            </a:r>
            <a:endParaRPr sz="1000" dirty="0"/>
          </a:p>
          <a:p>
            <a:pPr marL="0" indent="0">
              <a:buNone/>
            </a:pPr>
            <a:r>
              <a:rPr sz="1000" dirty="0"/>
              <a:t>   cd </a:t>
            </a:r>
            <a:r>
              <a:rPr sz="1000" dirty="0" err="1" smtClean="0"/>
              <a:t>jenkins_</a:t>
            </a:r>
            <a:r>
              <a:rPr lang="en-US" sz="1000" dirty="0" err="1" smtClean="0"/>
              <a:t>first_last</a:t>
            </a:r>
            <a:endParaRPr sz="1000" dirty="0"/>
          </a:p>
          <a:p>
            <a:pPr marL="0" indent="0">
              <a:buNone/>
            </a:pPr>
            <a:r>
              <a:rPr sz="1000" dirty="0"/>
              <a:t>2. Initialize a </a:t>
            </a:r>
            <a:r>
              <a:rPr sz="1000" dirty="0" err="1"/>
              <a:t>Git</a:t>
            </a:r>
            <a:r>
              <a:rPr sz="1000" dirty="0"/>
              <a:t> Repository:</a:t>
            </a:r>
          </a:p>
          <a:p>
            <a:pPr marL="0" indent="0">
              <a:buNone/>
            </a:pPr>
            <a:r>
              <a:rPr sz="1000" dirty="0"/>
              <a:t>   </a:t>
            </a:r>
          </a:p>
          <a:p>
            <a:pPr marL="0" indent="0">
              <a:buNone/>
            </a:pPr>
            <a:r>
              <a:rPr sz="1000" dirty="0"/>
              <a:t>   </a:t>
            </a:r>
            <a:r>
              <a:rPr sz="1000" dirty="0" err="1"/>
              <a:t>git</a:t>
            </a:r>
            <a:r>
              <a:rPr sz="1000" dirty="0"/>
              <a:t> </a:t>
            </a:r>
            <a:r>
              <a:rPr sz="1000" dirty="0" err="1"/>
              <a:t>init</a:t>
            </a:r>
            <a:endParaRPr sz="1000" dirty="0"/>
          </a:p>
          <a:p>
            <a:pPr marL="0" indent="0">
              <a:buNone/>
            </a:pPr>
            <a:r>
              <a:rPr sz="1000" dirty="0"/>
              <a:t>   </a:t>
            </a:r>
          </a:p>
          <a:p>
            <a:pPr marL="0" indent="0">
              <a:buNone/>
            </a:pPr>
            <a:endParaRPr sz="1000" dirty="0"/>
          </a:p>
          <a:p>
            <a:pPr marL="0" indent="0">
              <a:buNone/>
            </a:pPr>
            <a:r>
              <a:rPr sz="1000" dirty="0"/>
              <a:t>3. Create the Files:</a:t>
            </a:r>
          </a:p>
          <a:p>
            <a:pPr marL="0" indent="0">
              <a:buNone/>
            </a:pPr>
            <a:r>
              <a:rPr sz="1000" dirty="0"/>
              <a:t>   - Create the `app.py`, `requirements.txt`, `tests/test_app.py`, and `</a:t>
            </a:r>
            <a:r>
              <a:rPr sz="1000" dirty="0" err="1"/>
              <a:t>Jenkinsfile</a:t>
            </a:r>
            <a:r>
              <a:rPr sz="1000" dirty="0"/>
              <a:t>` as outlined </a:t>
            </a:r>
            <a:r>
              <a:rPr lang="en-US" sz="1000" dirty="0"/>
              <a:t>in your lab</a:t>
            </a:r>
            <a:r>
              <a:rPr sz="1000" dirty="0"/>
              <a:t>.</a:t>
            </a:r>
          </a:p>
          <a:p>
            <a:pPr marL="0" indent="0">
              <a:buNone/>
            </a:pPr>
            <a:endParaRPr sz="1000" dirty="0"/>
          </a:p>
          <a:p>
            <a:pPr marL="0" indent="0">
              <a:buNone/>
            </a:pPr>
            <a:r>
              <a:rPr sz="1000" dirty="0"/>
              <a:t>4. Push to GitHub:</a:t>
            </a:r>
          </a:p>
          <a:p>
            <a:pPr marL="0" indent="0">
              <a:buNone/>
            </a:pPr>
            <a:r>
              <a:rPr sz="1000" dirty="0"/>
              <a:t>   - Make sure your repository is created on GitHub and push your local repository to it.</a:t>
            </a:r>
          </a:p>
          <a:p>
            <a:pPr marL="0" indent="0">
              <a:buNone/>
            </a:pPr>
            <a:endParaRPr sz="1000" dirty="0"/>
          </a:p>
          <a:p>
            <a:pPr marL="0" indent="0">
              <a:buNone/>
            </a:pPr>
            <a:r>
              <a:rPr sz="1000" dirty="0"/>
              <a:t>5. Set Up Jenkins:</a:t>
            </a:r>
          </a:p>
          <a:p>
            <a:pPr marL="0" indent="0">
              <a:buNone/>
            </a:pPr>
            <a:r>
              <a:rPr sz="1000" dirty="0"/>
              <a:t>   - Create a new pipeline job in Jenkins, pointing to your GitHub repository and using the </a:t>
            </a:r>
            <a:r>
              <a:rPr sz="1000" dirty="0" err="1" smtClean="0"/>
              <a:t>Jenkinsfile</a:t>
            </a:r>
            <a:r>
              <a:rPr lang="en-US" sz="1000" dirty="0" err="1" smtClean="0"/>
              <a:t>_first_last</a:t>
            </a:r>
            <a:r>
              <a:rPr sz="1000" dirty="0" smtClean="0"/>
              <a:t> </a:t>
            </a:r>
            <a:r>
              <a:rPr sz="1000" dirty="0"/>
              <a:t>you created.</a:t>
            </a:r>
          </a:p>
          <a:p>
            <a:pPr marL="0" indent="0">
              <a:buNone/>
            </a:pPr>
            <a:endParaRPr sz="1000" dirty="0"/>
          </a:p>
          <a:p>
            <a:pPr marL="0" indent="0">
              <a:buNone/>
            </a:pPr>
            <a:r>
              <a:rPr sz="1000" dirty="0"/>
              <a:t> Final Notes</a:t>
            </a:r>
          </a:p>
          <a:p>
            <a:pPr marL="0" indent="0">
              <a:buNone/>
            </a:pPr>
            <a:r>
              <a:rPr sz="1000" dirty="0"/>
              <a:t>- Ensure that Jenkins has the required plugins installed (</a:t>
            </a:r>
            <a:r>
              <a:rPr sz="1000" dirty="0" err="1"/>
              <a:t>Git</a:t>
            </a:r>
            <a:r>
              <a:rPr sz="1000" dirty="0"/>
              <a:t>, Pipeline, and SSH Agent).</a:t>
            </a:r>
          </a:p>
          <a:p>
            <a:pPr marL="0" indent="0">
              <a:buNone/>
            </a:pPr>
            <a:r>
              <a:rPr sz="1000" dirty="0"/>
              <a:t>- Modify the deployment stage in the </a:t>
            </a:r>
            <a:r>
              <a:rPr sz="1000" dirty="0" err="1"/>
              <a:t>Jenkinsfile</a:t>
            </a:r>
            <a:r>
              <a:rPr sz="1000" dirty="0"/>
              <a:t> as needed for your environment.</a:t>
            </a:r>
          </a:p>
          <a:p>
            <a:pPr marL="0" indent="0">
              <a:buNone/>
            </a:pPr>
            <a:r>
              <a:rPr sz="1000" dirty="0"/>
              <a:t>- Run the pipeline in Jenkins to see it automate testing and deployment.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Jenkinsfile</a:t>
            </a:r>
            <a:r>
              <a:rPr lang="en-US" dirty="0" err="1" smtClean="0"/>
              <a:t>_first_last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dirty="0"/>
              <a:t>By default, Jenkins looks for a file named </a:t>
            </a:r>
            <a:r>
              <a:rPr lang="en-US" sz="1000" dirty="0" err="1"/>
              <a:t>Jenkinsfile</a:t>
            </a:r>
            <a:r>
              <a:rPr lang="en-US" sz="1000" dirty="0"/>
              <a:t> in the root of your repository. </a:t>
            </a:r>
            <a:r>
              <a:rPr lang="en-US" sz="1000" dirty="0" smtClean="0"/>
              <a:t>Since you </a:t>
            </a:r>
            <a:r>
              <a:rPr lang="en-US" sz="1000" dirty="0"/>
              <a:t>want to use a custom filename (like </a:t>
            </a:r>
            <a:r>
              <a:rPr lang="en-US" sz="1000" dirty="0" err="1"/>
              <a:t>Jenkinsfile_first_last</a:t>
            </a:r>
            <a:r>
              <a:rPr lang="en-US" sz="1000" dirty="0"/>
              <a:t>), you’ll need to specify the custom filename in the Jenkins pipeline configuration: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sz="1000" dirty="0"/>
              <a:t>Using a </a:t>
            </a:r>
            <a:r>
              <a:rPr lang="en-US" sz="1000" dirty="0" err="1"/>
              <a:t>Multibranch</a:t>
            </a:r>
            <a:r>
              <a:rPr lang="en-US" sz="1000" dirty="0"/>
              <a:t> Pipeline: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/>
              <a:t>In the </a:t>
            </a:r>
            <a:r>
              <a:rPr lang="en-US" sz="1000" dirty="0" err="1"/>
              <a:t>Multibranch</a:t>
            </a:r>
            <a:r>
              <a:rPr lang="en-US" sz="1000" dirty="0"/>
              <a:t> Pipeline job configuration, go to the Branch Sources section.</a:t>
            </a:r>
          </a:p>
          <a:p>
            <a:pPr marL="0" indent="0">
              <a:buNone/>
            </a:pPr>
            <a:r>
              <a:rPr lang="en-US" sz="1000" dirty="0"/>
              <a:t>Under the Script Path field, specify your custom </a:t>
            </a:r>
            <a:r>
              <a:rPr lang="en-US" sz="1000" dirty="0" err="1"/>
              <a:t>Jenkinsfile</a:t>
            </a:r>
            <a:r>
              <a:rPr lang="en-US" sz="1000" dirty="0"/>
              <a:t> name, e.g., </a:t>
            </a:r>
            <a:r>
              <a:rPr lang="en-US" sz="1000" dirty="0" err="1"/>
              <a:t>Jenkinsfile_first_last</a:t>
            </a:r>
            <a:r>
              <a:rPr lang="en-US" sz="1000" dirty="0"/>
              <a:t>.</a:t>
            </a:r>
          </a:p>
          <a:p>
            <a:r>
              <a:rPr lang="en-US" sz="1000" dirty="0"/>
              <a:t>Using a Pipeline Job: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/>
              <a:t>In the Pipeline job configuration, if you are using Pipeline script from SCM, there’s an option to set the Script Path.</a:t>
            </a:r>
          </a:p>
          <a:p>
            <a:pPr marL="0" indent="0">
              <a:buNone/>
            </a:pPr>
            <a:r>
              <a:rPr lang="en-US" sz="1000" dirty="0"/>
              <a:t>Set the Script Path to </a:t>
            </a:r>
            <a:r>
              <a:rPr lang="en-US" sz="1000" dirty="0" err="1"/>
              <a:t>Jenkinsfile_first_last</a:t>
            </a:r>
            <a:r>
              <a:rPr lang="en-US" sz="1000" dirty="0"/>
              <a:t> (or whatever custom name you want).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07159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the end of this lab, you should have:</a:t>
            </a:r>
          </a:p>
          <a:p>
            <a:r>
              <a:t>• A working Jenkins pipeline that automates testing and deployment.</a:t>
            </a:r>
          </a:p>
          <a:p>
            <a:r>
              <a:t>• Experience integrating additional steps into a CI/CD pipeline.</a:t>
            </a:r>
          </a:p>
          <a:p>
            <a:r>
              <a:t>• An understanding of using Jenkins for automating DevOps tasks.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jenkins github integration:</a:t>
            </a:r>
          </a:p>
          <a:p>
            <a:r>
              <a:rPr lang="en-US"/>
              <a:t>https://youtu.be/jSm0YZ-NQAc</a:t>
            </a:r>
          </a:p>
          <a:p>
            <a:endParaRPr lang="en-US"/>
          </a:p>
          <a:p>
            <a:r>
              <a:rPr lang="en-US"/>
              <a:t>what is jenkins:</a:t>
            </a:r>
          </a:p>
          <a:p>
            <a:r>
              <a:rPr lang="en-US"/>
              <a:t>https://youtu.be/2w-_JOK96Uc</a:t>
            </a:r>
          </a:p>
          <a:p>
            <a:endParaRPr lang="en-US"/>
          </a:p>
          <a:p>
            <a:r>
              <a:rPr lang="en-US"/>
              <a:t>create jenkins pipeline:</a:t>
            </a:r>
          </a:p>
          <a:p>
            <a:r>
              <a:rPr lang="en-US"/>
              <a:t>https://youtu.be/s73nhwYBtzE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Custom 3">
      <a:dk1>
        <a:srgbClr val="7F7F7F"/>
      </a:dk1>
      <a:lt1>
        <a:sysClr val="window" lastClr="FFFFFF"/>
      </a:lt1>
      <a:dk2>
        <a:srgbClr val="7B7B7B"/>
      </a:dk2>
      <a:lt2>
        <a:srgbClr val="F2F2F2"/>
      </a:lt2>
      <a:accent1>
        <a:srgbClr val="840132"/>
      </a:accent1>
      <a:accent2>
        <a:srgbClr val="F3C512"/>
      </a:accent2>
      <a:accent3>
        <a:srgbClr val="D9B1D7"/>
      </a:accent3>
      <a:accent4>
        <a:srgbClr val="F7C3AC"/>
      </a:accent4>
      <a:accent5>
        <a:srgbClr val="A5E7E7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1289</Words>
  <Application>Microsoft Office PowerPoint</Application>
  <PresentationFormat>On-screen Show (4:3)</PresentationFormat>
  <Paragraphs>190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Helvetica</vt:lpstr>
      <vt:lpstr>Helvetica Neue</vt:lpstr>
      <vt:lpstr>Proxima Nova</vt:lpstr>
      <vt:lpstr>Proxima Nova Rg</vt:lpstr>
      <vt:lpstr>Office Theme</vt:lpstr>
      <vt:lpstr>1_Custom Design</vt:lpstr>
      <vt:lpstr>435L-Lab10-Jenkins </vt:lpstr>
      <vt:lpstr>Introduction to Jenkins</vt:lpstr>
      <vt:lpstr>Introduction to Jenkins</vt:lpstr>
      <vt:lpstr>Why Use Jenkins?</vt:lpstr>
      <vt:lpstr>Core Concepts of Jenkins</vt:lpstr>
      <vt:lpstr>Setting Up Jenkins</vt:lpstr>
      <vt:lpstr>Jenkinsfile: Pipeline as Code</vt:lpstr>
      <vt:lpstr>Example Pipeline Structure in Jenkinsfile</vt:lpstr>
      <vt:lpstr>Running and Monitoring Jenkins Builds</vt:lpstr>
      <vt:lpstr>Common Jenkins Best Practices</vt:lpstr>
      <vt:lpstr>Objective</vt:lpstr>
      <vt:lpstr>Prerequisites</vt:lpstr>
      <vt:lpstr>Part 1: Setting Up Jenkins</vt:lpstr>
      <vt:lpstr>Part 2: Setting Up a Python Project</vt:lpstr>
      <vt:lpstr>Part 3: Creating a Jenkins Pipeline</vt:lpstr>
      <vt:lpstr>Part 4: Exercise to be Graded</vt:lpstr>
      <vt:lpstr>Code Coverage with coverage.py</vt:lpstr>
      <vt:lpstr>Security Scanning with bandit</vt:lpstr>
      <vt:lpstr>Deployment Stage in Jenkins</vt:lpstr>
      <vt:lpstr>Complete Jenkinsfile lab</vt:lpstr>
      <vt:lpstr>Jenkinsfile_first_last</vt:lpstr>
      <vt:lpstr>Expected Outcome</vt:lpstr>
      <vt:lpstr>Resources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PE2: Module 1 - Modules, Packages, and PIP</dc:title>
  <dc:creator>Iman Ghalayini</dc:creator>
  <dc:description>generated using python-pptx</dc:description>
  <cp:lastModifiedBy>Iman Ghalayini</cp:lastModifiedBy>
  <cp:revision>44</cp:revision>
  <dcterms:created xsi:type="dcterms:W3CDTF">2013-01-27T10:14:00Z</dcterms:created>
  <dcterms:modified xsi:type="dcterms:W3CDTF">2024-11-04T07:32:45Z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6D0E94ECD34148618D6D47BCCD04B979_13</vt:lpwstr>
  </property>
  <property fmtid="{D5CDD505-2E9C-101B-9397-08002B2CF9AE}" pid="3" name="KSOProductBuildVer">
    <vt:lpwstr>1033-12.2.0.18607</vt:lpwstr>
  </property>
</Properties>
</file>